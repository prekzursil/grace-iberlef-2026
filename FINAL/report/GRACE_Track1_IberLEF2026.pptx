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 i="0">
                <a:solidFill>
                  <a:srgbClr val="E6EDF3"/>
                </a:solidFill>
                <a:latin typeface="Segoe UI"/>
              </a:rPr>
              <a:t>Argument Mining in Spanish Clinical Trials</a:t>
            </a:r>
          </a:p>
          <a:p>
            <a:pPr algn="l">
              <a:spcAft>
                <a:spcPts val="1800"/>
              </a:spcAft>
            </a:pPr>
            <a:r>
              <a:rPr sz="2000" b="0" i="0">
                <a:solidFill>
                  <a:srgbClr val="7EE787"/>
                </a:solidFill>
                <a:latin typeface="Segoe UI"/>
              </a:rPr>
              <a:t>A 27-Run Transformer Benchmark + Ensemble for Evidence Component Detection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8B949E"/>
                </a:solidFill>
                <a:latin typeface="Segoe UI"/>
              </a:rPr>
              <a:t>GRACE @ IberLEF 2026   ·   Track 1   ·   Subtask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74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8B949E"/>
                </a:solidFill>
                <a:latin typeface="Segoe UI"/>
              </a:rPr>
              <a:t>Best single: </a:t>
            </a:r>
            <a:r>
              <a:rPr sz="1300" b="1" i="0">
                <a:solidFill>
                  <a:srgbClr val="E6EDF3"/>
                </a:solidFill>
                <a:latin typeface="Segoe UI"/>
              </a:rPr>
              <a:t>mDeBERTa-v3  0.705</a:t>
            </a:r>
            <a:r>
              <a:rPr sz="1300" b="0" i="0">
                <a:solidFill>
                  <a:srgbClr val="8B949E"/>
                </a:solidFill>
                <a:latin typeface="Segoe UI"/>
              </a:rPr>
              <a:t>      All-9 ensemble: </a:t>
            </a:r>
            <a:r>
              <a:rPr sz="1300" b="1" i="0">
                <a:solidFill>
                  <a:srgbClr val="E3B341"/>
                </a:solidFill>
                <a:latin typeface="Segoe UI"/>
              </a:rPr>
              <a:t>0.743</a:t>
            </a:r>
            <a:r>
              <a:rPr sz="1300" b="0" i="0">
                <a:solidFill>
                  <a:srgbClr val="8B949E"/>
                </a:solidFill>
                <a:latin typeface="Segoe UI"/>
              </a:rPr>
              <a:t>      Blind: </a:t>
            </a:r>
            <a:r>
              <a:rPr sz="1300" b="1" i="0">
                <a:solidFill>
                  <a:srgbClr val="E6EDF3"/>
                </a:solidFill>
                <a:latin typeface="Segoe UI"/>
              </a:rPr>
              <a:t>11,752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GRACE @ IberLEF 2026  ·  Track 1: Evidence Component Detection (ES)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1 /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E6EDF3"/>
                </a:solidFill>
                <a:latin typeface="Segoe UI"/>
              </a:rPr>
              <a:t>Agenda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8B949E"/>
                </a:solidFill>
                <a:latin typeface="Segoe UI"/>
              </a:rPr>
              <a:t>From a small, imbalanced corpus to a validated submission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1064240" cy="713232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91440" cy="713232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7335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58A6FF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18488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58A6FF"/>
                </a:solidFill>
                <a:latin typeface="Segoe UI"/>
              </a:rPr>
              <a:t>Problem &amp; Data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8B949E"/>
                </a:solidFill>
                <a:latin typeface="Segoe UI"/>
              </a:rPr>
              <a:t>The task, an annotated example, the corpus and its class imbalance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11064240" cy="713232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91440" cy="713232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9631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7EE787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441448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7EE787"/>
                </a:solidFill>
                <a:latin typeface="Segoe UI"/>
              </a:rPr>
              <a:t>Method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8B949E"/>
                </a:solidFill>
                <a:latin typeface="Segoe UI"/>
              </a:rPr>
              <a:t>Sentence-level 4-class framing, two-stage runner, the 9 backbones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11064240" cy="713232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91440" cy="713232"/>
          </a:xfrm>
          <a:prstGeom prst="rect">
            <a:avLst/>
          </a:prstGeom>
          <a:solidFill>
            <a:srgbClr val="D2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1927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D2A8FF"/>
                </a:solidFill>
                <a:latin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264408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D2A8FF"/>
                </a:solidFill>
                <a:latin typeface="Segoe UI"/>
              </a:rPr>
              <a:t>Infrastructure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8B949E"/>
                </a:solidFill>
                <a:latin typeface="Segoe UI"/>
              </a:rPr>
              <a:t>The GPU journey (Kaggle → Azure → Modal) and the parallel sweep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23360"/>
            <a:ext cx="11064240" cy="713232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023360"/>
            <a:ext cx="91440" cy="713232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4223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E3B341"/>
                </a:solidFill>
                <a:latin typeface="Segoe U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087368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E3B341"/>
                </a:solidFill>
                <a:latin typeface="Segoe UI"/>
              </a:rPr>
              <a:t>Results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8B949E"/>
                </a:solidFill>
                <a:latin typeface="Segoe UI"/>
              </a:rPr>
              <a:t>Leaderboard, per-class behaviour, seed stability, training dynamics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46320"/>
            <a:ext cx="11064240" cy="713232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846320"/>
            <a:ext cx="91440" cy="713232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96519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7EE787"/>
                </a:solidFill>
                <a:latin typeface="Segoe U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910328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7EE787"/>
                </a:solidFill>
                <a:latin typeface="Segoe UI"/>
              </a:rPr>
              <a:t>Ensemble &amp; Submission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8B949E"/>
                </a:solidFill>
                <a:latin typeface="Segoe UI"/>
              </a:rPr>
              <a:t>Probability averaging, honest selection, the blind-test output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669280"/>
            <a:ext cx="11064240" cy="713232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669280"/>
            <a:ext cx="91440" cy="713232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78815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58A6FF"/>
                </a:solidFill>
                <a:latin typeface="Segoe U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5733288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58A6FF"/>
                </a:solidFill>
                <a:latin typeface="Segoe UI"/>
              </a:rPr>
              <a:t>Lessons &amp; Outlook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8B949E"/>
                </a:solidFill>
                <a:latin typeface="Segoe UI"/>
              </a:rPr>
              <a:t>What we explored, engineering lessons, limitations, next steps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GRACE @ IberLEF 2026  ·  Track 1: Evidence Component Detection (ES)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55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E6EDF3"/>
                </a:solidFill>
                <a:latin typeface="Segoe UI"/>
              </a:rPr>
              <a:t>Why Argument Mining in Clinical Trials?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8B949E"/>
                </a:solidFill>
                <a:latin typeface="Segoe UI"/>
              </a:rPr>
              <a:t>Turning prose evidence into structured, machine-readable argumentation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81328"/>
            <a:ext cx="11064240" cy="110871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91440" cy="110871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10561320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58A6FF"/>
                </a:solidFill>
                <a:latin typeface="Segoe UI"/>
              </a:rPr>
              <a:t>Evidence-based medicine runs on RCTs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Segoe UI"/>
              </a:rPr>
              <a:t>Randomised controlled trials are the gold standard of clinical evidence, but their conclusions are locked in free-text abstracts — hard to search, compare, or synthesise at scale.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36341"/>
            <a:ext cx="11064240" cy="110871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36341"/>
            <a:ext cx="91440" cy="1108710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46070"/>
            <a:ext cx="10561320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7EE787"/>
                </a:solidFill>
                <a:latin typeface="Segoe UI"/>
              </a:rPr>
              <a:t>Arguments have structure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Segoe UI"/>
              </a:rPr>
              <a:t>Each abstract builds an argument: Premises (results) support Claims (interpretations) that roll up into a MajorClaim (the take-home conclusion). Recovering that structure powers automated evidence synthesis and systematic reviews.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91355"/>
            <a:ext cx="11064240" cy="110871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991355"/>
            <a:ext cx="91440" cy="1108710"/>
          </a:xfrm>
          <a:prstGeom prst="rect">
            <a:avLst/>
          </a:prstGeom>
          <a:solidFill>
            <a:srgbClr val="D2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101083"/>
            <a:ext cx="10561320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D2A8FF"/>
                </a:solidFill>
                <a:latin typeface="Segoe UI"/>
              </a:rPr>
              <a:t>Spanish clinical NLP is under-resourced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Segoe UI"/>
              </a:rPr>
              <a:t>Most argument-mining work targets English. GRACE provides a Spanish RCT benchmark — exactly where domain-specific models and careful methodology can make a difference.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246369"/>
            <a:ext cx="11064240" cy="110871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246369"/>
            <a:ext cx="91440" cy="110871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356097"/>
            <a:ext cx="10561320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E3B341"/>
                </a:solidFill>
                <a:latin typeface="Segoe UI"/>
              </a:rPr>
              <a:t>Our goal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Segoe UI"/>
              </a:rPr>
              <a:t>A rigorous, reproducible benchmark of Spanish/clinical encoders for evidence component detection, plus an ensemble strong enough to submit.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GRACE @ IberLEF 2026  ·  Track 1: Evidence Component Detection (ES)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E6EDF3"/>
                </a:solidFill>
                <a:latin typeface="Segoe UI"/>
              </a:rPr>
              <a:t>The Task — Evidence Component Detection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8B949E"/>
                </a:solidFill>
                <a:latin typeface="Segoe UI"/>
              </a:rPr>
              <a:t>Classify each segment of a Spanish RCT abstract by argumentative role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670048" cy="14630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2670048" cy="9144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58A6FF"/>
                </a:solidFill>
                <a:latin typeface="Segoe UI"/>
              </a:rPr>
              <a:t>Premise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8B949E"/>
                </a:solidFill>
                <a:latin typeface="Segoe UI"/>
              </a:rPr>
              <a:t>Reported evidence,
statistical 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8416" y="1554480"/>
            <a:ext cx="2670048" cy="14630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28416" y="1554480"/>
            <a:ext cx="2670048" cy="91440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1296" y="182880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7EE787"/>
                </a:solidFill>
                <a:latin typeface="Segoe UI"/>
              </a:rPr>
              <a:t>Claim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8B949E"/>
                </a:solidFill>
                <a:latin typeface="Segoe UI"/>
              </a:rPr>
              <a:t>Interpretation of
the findings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08192" y="1554480"/>
            <a:ext cx="2670048" cy="14630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08192" y="1554480"/>
            <a:ext cx="2670048" cy="9144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82880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E3B341"/>
                </a:solidFill>
                <a:latin typeface="Segoe UI"/>
              </a:rPr>
              <a:t>MajorClaim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8B949E"/>
                </a:solidFill>
                <a:latin typeface="Segoe UI"/>
              </a:rPr>
              <a:t>The overall
conclusion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87967" y="1554480"/>
            <a:ext cx="2670048" cy="14630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87967" y="1554480"/>
            <a:ext cx="2670048" cy="91440"/>
          </a:xfrm>
          <a:prstGeom prst="rect">
            <a:avLst/>
          </a:prstGeom>
          <a:solidFill>
            <a:srgbClr val="8B94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7" y="182880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8B949E"/>
                </a:solidFill>
                <a:latin typeface="Segoe UI"/>
              </a:rPr>
              <a:t>None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8B949E"/>
                </a:solidFill>
                <a:latin typeface="Segoe UI"/>
              </a:rPr>
              <a:t>Background /
methods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8328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E6EDF3"/>
                </a:solidFill>
                <a:latin typeface="Segoe UI"/>
              </a:rPr>
              <a:t>Our framing: sentence-level 4-class classification.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E6EDF3"/>
                </a:solidFill>
                <a:latin typeface="Segoe UI"/>
              </a:rPr>
              <a:t>• Segment each abstract into sentences with spaCy (es_core_news_sm).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E6EDF3"/>
                </a:solidFill>
                <a:latin typeface="Segoe UI"/>
              </a:rPr>
              <a:t>• Classify each sentence in the context of its previous sentence:  prev_sentence [SEP] sentence  (≤192 tokens).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E6EDF3"/>
                </a:solidFill>
                <a:latin typeface="Segoe UI"/>
              </a:rPr>
              <a:t>• A 0.50 probability override promotes a segment to the rare MajorClaim class.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E6EDF3"/>
                </a:solidFill>
                <a:latin typeface="Segoe UI"/>
              </a:rPr>
              <a:t>• Official ranking metric: strict macro-F1 — predicted spans must match gold character offsets exactly.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GRACE @ IberLEF 2026  ·  Track 1: Evidence Component Detection (ES)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E6EDF3"/>
                </a:solidFill>
                <a:latin typeface="Segoe UI"/>
              </a:rPr>
              <a:t>What the Model Labels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8B949E"/>
                </a:solidFill>
                <a:latin typeface="Segoe UI"/>
              </a:rPr>
              <a:t>Real dev examples of each argumentative role</a:t>
            </a:r>
          </a:p>
        </p:txBody>
      </p:sp>
      <p:pic>
        <p:nvPicPr>
          <p:cNvPr id="4" name="Picture 3" descr="09_annotated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737" y="1371600"/>
            <a:ext cx="8344044" cy="4617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60533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7EE787"/>
                </a:solidFill>
                <a:latin typeface="Segoe UI"/>
              </a:rPr>
              <a:t>Premise → Claim → MajorClaim form the argumentative chain; everything else is None.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GRACE @ IberLEF 2026  ·  Track 1: Evidence Component Detection (ES)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E6EDF3"/>
                </a:solidFill>
                <a:latin typeface="Segoe UI"/>
              </a:rPr>
              <a:t>Dataset &amp; the Core Challenge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8B949E"/>
                </a:solidFill>
                <a:latin typeface="Segoe UI"/>
              </a:rPr>
              <a:t>Small, severely imbalanced — MajorClaim is the bottleneck</a:t>
            </a:r>
          </a:p>
        </p:txBody>
      </p:sp>
      <p:pic>
        <p:nvPicPr>
          <p:cNvPr id="4" name="Picture 3" descr="06_data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192" y="1371600"/>
            <a:ext cx="9493134" cy="4617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60533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7EE787"/>
                </a:solidFill>
                <a:latin typeface="Segoe UI"/>
              </a:rPr>
              <a:t>350 train / 50 dev / 2,474 blind abstracts · MajorClaim = 2.8% of train, only 9 dev spans.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GRACE @ IberLEF 2026  ·  Track 1: Evidence Component Detection (ES)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E6EDF3"/>
                </a:solidFill>
                <a:latin typeface="Segoe UI"/>
              </a:rPr>
              <a:t>Evaluation Methodology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8B949E"/>
                </a:solidFill>
                <a:latin typeface="Segoe UI"/>
              </a:rPr>
              <a:t>Strict vs relaxed span matching, and macro-F1 aggregation</a:t>
            </a:r>
          </a:p>
        </p:txBody>
      </p:sp>
      <p:pic>
        <p:nvPicPr>
          <p:cNvPr id="4" name="Picture 3" descr="11_eval_method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739" y="1371600"/>
            <a:ext cx="9392040" cy="4617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60533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7EE787"/>
                </a:solidFill>
                <a:latin typeface="Segoe UI"/>
              </a:rPr>
              <a:t>We optimise and report the official strict macro-F1 throughout.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GRACE @ IberLEF 2026  ·  Track 1: Evidence Component Detection (ES)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E6EDF3"/>
                </a:solidFill>
                <a:latin typeface="Segoe UI"/>
              </a:rPr>
              <a:t>System Architecture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8B949E"/>
                </a:solidFill>
                <a:latin typeface="Segoe UI"/>
              </a:rPr>
              <a:t>One pipeline, two stages, 27 runs in parallel</a:t>
            </a:r>
          </a:p>
        </p:txBody>
      </p:sp>
      <p:pic>
        <p:nvPicPr>
          <p:cNvPr id="4" name="Picture 3" descr="10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708" y="1371600"/>
            <a:ext cx="9408102" cy="4617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60533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7EE787"/>
                </a:solidFill>
                <a:latin typeface="Segoe UI"/>
              </a:rPr>
              <a:t>Stage 1 selects the best epoch on held-out dev; Stage 2 refits on all data for the submission.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GRACE @ IberLEF 2026  ·  Track 1: Evidence Component Detection (ES)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E6EDF3"/>
                </a:solidFill>
                <a:latin typeface="Segoe UI"/>
              </a:rPr>
              <a:t>Input Representation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8B949E"/>
                </a:solidFill>
                <a:latin typeface="Segoe UI"/>
              </a:rPr>
              <a:t>Context-aware sentence classification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64240" cy="157276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72768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E6EDF3"/>
                </a:solidFill>
                <a:latin typeface="Segoe UI"/>
              </a:rPr>
              <a:t>Each sentence is classified together with the one before it: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8B949E"/>
                </a:solidFill>
                <a:latin typeface="Segoe UI"/>
              </a:rPr>
              <a:t>[CLS] </a:t>
            </a:r>
            <a:r>
              <a:rPr sz="1300" b="1" i="0">
                <a:solidFill>
                  <a:srgbClr val="58A6FF"/>
                </a:solidFill>
                <a:latin typeface="Segoe UI"/>
              </a:rPr>
              <a:t>La calidad de vida fue similar en los dos grupos.</a:t>
            </a:r>
            <a:r>
              <a:rPr sz="1300" b="1" i="0">
                <a:solidFill>
                  <a:srgbClr val="E3B341"/>
                </a:solidFill>
                <a:latin typeface="Segoe UI"/>
              </a:rPr>
              <a:t> [SEP]</a:t>
            </a:r>
            <a:r>
              <a:rPr sz="1050" b="0" i="1">
                <a:solidFill>
                  <a:srgbClr val="58A6FF"/>
                </a:solidFill>
                <a:latin typeface="Segoe UI"/>
              </a:rPr>
              <a:t>    ← previous sentence (context)</a:t>
            </a:r>
          </a:p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7EE787"/>
                </a:solidFill>
                <a:latin typeface="Segoe UI"/>
              </a:rPr>
              <a:t>El resultado de estos pacientes sigue siendo insatisfactorio.</a:t>
            </a:r>
            <a:r>
              <a:rPr sz="1300" b="1" i="0">
                <a:solidFill>
                  <a:srgbClr val="E3B341"/>
                </a:solidFill>
                <a:latin typeface="Segoe UI"/>
              </a:rPr>
              <a:t> [SEP]</a:t>
            </a:r>
            <a:r>
              <a:rPr sz="1050" b="0" i="1">
                <a:solidFill>
                  <a:srgbClr val="7EE787"/>
                </a:solidFill>
                <a:latin typeface="Segoe UI"/>
              </a:rPr>
              <a:t>    ← target sentence (the one we label)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00400"/>
            <a:ext cx="11064240" cy="9144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91440" cy="9144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58A6FF"/>
                </a:solidFill>
                <a:latin typeface="Segoe UI"/>
              </a:rPr>
              <a:t>Why previous-sentence context?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Segoe UI"/>
              </a:rPr>
              <a:t>Argument role is relational — a Claim often follows the Premises that support it. The preceding sentence gives the encoder that discourse cue.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24528"/>
            <a:ext cx="11064240" cy="9144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224528"/>
            <a:ext cx="91440" cy="914400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31596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7EE787"/>
                </a:solidFill>
                <a:latin typeface="Segoe UI"/>
              </a:rPr>
              <a:t>Segmentation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Segoe UI"/>
              </a:rPr>
              <a:t>spaCy es_core_news_sm splits abstracts into sentences; segments shorter than 10 characters are dropped as noise.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248656"/>
            <a:ext cx="11064240" cy="9144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248656"/>
            <a:ext cx="91440" cy="914400"/>
          </a:xfrm>
          <a:prstGeom prst="rect">
            <a:avLst/>
          </a:prstGeom>
          <a:solidFill>
            <a:srgbClr val="D2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340096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D2A8FF"/>
                </a:solidFill>
                <a:latin typeface="Segoe UI"/>
              </a:rPr>
              <a:t>Length budget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Segoe UI"/>
              </a:rPr>
              <a:t>max_len 192 tokens comfortably covers a sentence pair in clinical Spanish without truncation in the vast majority of cases.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GRACE @ IberLEF 2026  ·  Track 1: Evidence Component Detection (ES)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E6EDF3"/>
                </a:solidFill>
                <a:latin typeface="Segoe UI"/>
              </a:rPr>
              <a:t>The 9 Backbones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8B949E"/>
                </a:solidFill>
                <a:latin typeface="Segoe UI"/>
              </a:rPr>
              <a:t>General, biomedical, and clinical encoders — Spanish and multilingual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3727" y="1554480"/>
          <a:ext cx="11064240" cy="3840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26080"/>
                <a:gridCol w="3108960"/>
                <a:gridCol w="2011680"/>
                <a:gridCol w="118872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6EDF3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T="25400" marB="25400">
                    <a:solidFill>
                      <a:srgbClr val="1A7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6EDF3"/>
                          </a:solidFill>
                          <a:latin typeface="Segoe UI"/>
                        </a:rPr>
                        <a:t>Pretraining domain</a:t>
                      </a:r>
                    </a:p>
                  </a:txBody>
                  <a:tcPr marT="25400" marB="25400">
                    <a:solidFill>
                      <a:srgbClr val="1A7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6EDF3"/>
                          </a:solidFill>
                          <a:latin typeface="Segoe UI"/>
                        </a:rPr>
                        <a:t>Language</a:t>
                      </a:r>
                    </a:p>
                  </a:txBody>
                  <a:tcPr marT="25400" marB="25400">
                    <a:solidFill>
                      <a:srgbClr val="1A7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6EDF3"/>
                          </a:solidFill>
                          <a:latin typeface="Segoe UI"/>
                        </a:rPr>
                        <a:t>Size</a:t>
                      </a:r>
                    </a:p>
                  </a:txBody>
                  <a:tcPr marT="25400" marB="25400">
                    <a:solidFill>
                      <a:srgbClr val="1A7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6EDF3"/>
                          </a:solidFill>
                          <a:latin typeface="Segoe UI"/>
                        </a:rPr>
                        <a:t>Dev macro-F1</a:t>
                      </a:r>
                    </a:p>
                  </a:txBody>
                  <a:tcPr marT="25400" marB="25400">
                    <a:solidFill>
                      <a:srgbClr val="1A7F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3B341"/>
                          </a:solidFill>
                          <a:latin typeface="Segoe UI"/>
                        </a:rPr>
                        <a:t>mDeBERTa-v3-base</a:t>
                      </a:r>
                    </a:p>
                  </a:txBody>
                  <a:tcPr marT="12700" marB="12700">
                    <a:solidFill>
                      <a:srgbClr val="233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3B341"/>
                          </a:solidFill>
                          <a:latin typeface="Segoe UI"/>
                        </a:rPr>
                        <a:t>General web</a:t>
                      </a:r>
                    </a:p>
                  </a:txBody>
                  <a:tcPr marT="12700" marB="12700">
                    <a:solidFill>
                      <a:srgbClr val="233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3B341"/>
                          </a:solidFill>
                          <a:latin typeface="Segoe UI"/>
                        </a:rPr>
                        <a:t>Multilingual</a:t>
                      </a:r>
                    </a:p>
                  </a:txBody>
                  <a:tcPr marT="12700" marB="12700">
                    <a:solidFill>
                      <a:srgbClr val="233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3B341"/>
                          </a:solidFill>
                          <a:latin typeface="Segoe UI"/>
                        </a:rPr>
                        <a:t>base</a:t>
                      </a:r>
                    </a:p>
                  </a:txBody>
                  <a:tcPr marT="12700" marB="12700">
                    <a:solidFill>
                      <a:srgbClr val="233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3B341"/>
                          </a:solidFill>
                          <a:latin typeface="Segoe UI"/>
                        </a:rPr>
                        <a:t>0.705</a:t>
                      </a:r>
                    </a:p>
                  </a:txBody>
                  <a:tcPr marT="12700" marB="12700">
                    <a:solidFill>
                      <a:srgbClr val="2331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bsc-bio-ehr-es</a:t>
                      </a:r>
                    </a:p>
                  </a:txBody>
                  <a:tcPr marT="12700" marB="12700"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Biomedical + clinical EHR</a:t>
                      </a:r>
                    </a:p>
                  </a:txBody>
                  <a:tcPr marT="12700" marB="12700"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Spanish</a:t>
                      </a:r>
                    </a:p>
                  </a:txBody>
                  <a:tcPr marT="12700" marB="12700"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base</a:t>
                      </a:r>
                    </a:p>
                  </a:txBody>
                  <a:tcPr marT="12700" marB="12700"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0.702</a:t>
                      </a:r>
                    </a:p>
                  </a:txBody>
                  <a:tcPr marT="12700" marB="12700">
                    <a:solidFill>
                      <a:srgbClr val="1B22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MrBERT-es</a:t>
                      </a:r>
                    </a:p>
                  </a:txBody>
                  <a:tcPr marT="12700" marB="127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General (ModernBERT)</a:t>
                      </a:r>
                    </a:p>
                  </a:txBody>
                  <a:tcPr marT="12700" marB="127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Spanish + English</a:t>
                      </a:r>
                    </a:p>
                  </a:txBody>
                  <a:tcPr marT="12700" marB="127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base</a:t>
                      </a:r>
                    </a:p>
                  </a:txBody>
                  <a:tcPr marT="12700" marB="127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0.696</a:t>
                      </a:r>
                    </a:p>
                  </a:txBody>
                  <a:tcPr marT="12700" marB="12700"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RigoBERTa-Clinical</a:t>
                      </a:r>
                    </a:p>
                  </a:txBody>
                  <a:tcPr marT="12700" marB="12700"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Clinical</a:t>
                      </a:r>
                    </a:p>
                  </a:txBody>
                  <a:tcPr marT="12700" marB="12700"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Spanish</a:t>
                      </a:r>
                    </a:p>
                  </a:txBody>
                  <a:tcPr marT="12700" marB="12700"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large</a:t>
                      </a:r>
                    </a:p>
                  </a:txBody>
                  <a:tcPr marT="12700" marB="12700"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0.692</a:t>
                      </a:r>
                    </a:p>
                  </a:txBody>
                  <a:tcPr marT="12700" marB="12700">
                    <a:solidFill>
                      <a:srgbClr val="1B22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MrBERT-biomed</a:t>
                      </a:r>
                    </a:p>
                  </a:txBody>
                  <a:tcPr marT="12700" marB="127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Biomedical</a:t>
                      </a:r>
                    </a:p>
                  </a:txBody>
                  <a:tcPr marT="12700" marB="127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Spanish + English</a:t>
                      </a:r>
                    </a:p>
                  </a:txBody>
                  <a:tcPr marT="12700" marB="127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base</a:t>
                      </a:r>
                    </a:p>
                  </a:txBody>
                  <a:tcPr marT="12700" marB="127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0.691</a:t>
                      </a:r>
                    </a:p>
                  </a:txBody>
                  <a:tcPr marT="12700" marB="12700"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roberta-clinical-es</a:t>
                      </a:r>
                    </a:p>
                  </a:txBody>
                  <a:tcPr marT="12700" marB="12700"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Biomedical + clinical</a:t>
                      </a:r>
                    </a:p>
                  </a:txBody>
                  <a:tcPr marT="12700" marB="12700"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Spanish</a:t>
                      </a:r>
                    </a:p>
                  </a:txBody>
                  <a:tcPr marT="12700" marB="12700"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base</a:t>
                      </a:r>
                    </a:p>
                  </a:txBody>
                  <a:tcPr marT="12700" marB="12700"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0.685</a:t>
                      </a:r>
                    </a:p>
                  </a:txBody>
                  <a:tcPr marT="12700" marB="12700">
                    <a:solidFill>
                      <a:srgbClr val="1B22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XLM-RoBERTa-large</a:t>
                      </a:r>
                    </a:p>
                  </a:txBody>
                  <a:tcPr marT="12700" marB="127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General web (100 langs)</a:t>
                      </a:r>
                    </a:p>
                  </a:txBody>
                  <a:tcPr marT="12700" marB="127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Multilingual</a:t>
                      </a:r>
                    </a:p>
                  </a:txBody>
                  <a:tcPr marT="12700" marB="127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large</a:t>
                      </a:r>
                    </a:p>
                  </a:txBody>
                  <a:tcPr marT="12700" marB="127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0.677</a:t>
                      </a:r>
                    </a:p>
                  </a:txBody>
                  <a:tcPr marT="12700" marB="12700"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BETO</a:t>
                      </a:r>
                    </a:p>
                  </a:txBody>
                  <a:tcPr marT="12700" marB="12700"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General web</a:t>
                      </a:r>
                    </a:p>
                  </a:txBody>
                  <a:tcPr marT="12700" marB="12700"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Spanish</a:t>
                      </a:r>
                    </a:p>
                  </a:txBody>
                  <a:tcPr marT="12700" marB="12700"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base</a:t>
                      </a:r>
                    </a:p>
                  </a:txBody>
                  <a:tcPr marT="12700" marB="12700"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0.675</a:t>
                      </a:r>
                    </a:p>
                  </a:txBody>
                  <a:tcPr marT="12700" marB="12700">
                    <a:solidFill>
                      <a:srgbClr val="1B22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BETO-Galén</a:t>
                      </a:r>
                    </a:p>
                  </a:txBody>
                  <a:tcPr marT="12700" marB="127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Clinical (Galén)</a:t>
                      </a:r>
                    </a:p>
                  </a:txBody>
                  <a:tcPr marT="12700" marB="127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Spanish</a:t>
                      </a:r>
                    </a:p>
                  </a:txBody>
                  <a:tcPr marT="12700" marB="127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base</a:t>
                      </a:r>
                    </a:p>
                  </a:txBody>
                  <a:tcPr marT="12700" marB="127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0.568</a:t>
                      </a:r>
                    </a:p>
                  </a:txBody>
                  <a:tcPr marT="12700" marB="12700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13232" y="55778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7EE787"/>
                </a:solidFill>
                <a:latin typeface="Segoe UI"/>
              </a:rPr>
              <a:t>Selected to span the pretraining spectrum — does clinical pretraining beat a strong multilingual general model? (It doesn't, quite.)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GRACE @ IberLEF 2026  ·  Track 1: Evidence Component Detection (ES)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E6EDF3"/>
                </a:solidFill>
                <a:latin typeface="Segoe UI"/>
              </a:rPr>
              <a:t>Training Setup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8B949E"/>
                </a:solidFill>
                <a:latin typeface="Segoe UI"/>
              </a:rPr>
              <a:t>Identical recipe across all 9 backbones for a fair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7EE787"/>
                </a:solidFill>
                <a:latin typeface="Segoe UI"/>
              </a:rPr>
              <a:t>Handling class imbalance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38528"/>
            <a:ext cx="5440680" cy="97840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38528"/>
            <a:ext cx="73152" cy="97840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020824"/>
            <a:ext cx="5074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8A6FF"/>
                </a:solidFill>
                <a:latin typeface="Segoe UI"/>
              </a:rPr>
              <a:t>Weighted cross-entropy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</a:rPr>
              <a:t>Per-class weights with MajorClaim set to 10× to counter its 2.8% frequency.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35808"/>
            <a:ext cx="5440680" cy="97840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035808"/>
            <a:ext cx="73152" cy="97840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3118104"/>
            <a:ext cx="5074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8A6FF"/>
                </a:solidFill>
                <a:latin typeface="Segoe UI"/>
              </a:rPr>
              <a:t>Label smoothing 0.15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</a:rPr>
              <a:t>Reduces over-confidence on the dominant Premise class and improves calibration.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33088"/>
            <a:ext cx="5440680" cy="97840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133088"/>
            <a:ext cx="73152" cy="97840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4215384"/>
            <a:ext cx="5074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8A6FF"/>
                </a:solidFill>
                <a:latin typeface="Segoe UI"/>
              </a:rPr>
              <a:t>0.50 MajorClaim override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</a:rPr>
              <a:t>Promote a segment to MajorClaim when its probability clears 0.50 — recovers recall on the rare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4173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7EE787"/>
                </a:solidFill>
                <a:latin typeface="Segoe UI"/>
              </a:rPr>
              <a:t>Optimisation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938528"/>
            <a:ext cx="5440680" cy="97840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938528"/>
            <a:ext cx="73152" cy="97840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2020824"/>
            <a:ext cx="5074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8A6FF"/>
                </a:solidFill>
                <a:latin typeface="Segoe UI"/>
              </a:rPr>
              <a:t>Differential LR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</a:rPr>
              <a:t>Body 1e-5, classifier head 1e-4 (AdamW, weight decay 0.05).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035808"/>
            <a:ext cx="5440680" cy="97840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035808"/>
            <a:ext cx="73152" cy="97840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3118104"/>
            <a:ext cx="5074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8A6FF"/>
                </a:solidFill>
                <a:latin typeface="Segoe UI"/>
              </a:rPr>
              <a:t>Cosine schedule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</a:rPr>
              <a:t>100 warmup steps, batch size 16, up to 15 epochs.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133088"/>
            <a:ext cx="5440680" cy="97840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133088"/>
            <a:ext cx="73152" cy="97840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9944" y="4215384"/>
            <a:ext cx="5074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8A6FF"/>
                </a:solidFill>
                <a:latin typeface="Segoe UI"/>
              </a:rPr>
              <a:t>Early stopping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</a:rPr>
              <a:t>Patience 4 on dev strict macro-F1; best epoch restored (load-best-at-end).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GRACE @ IberLEF 2026  ·  Track 1: Evidence Component Detection (ES)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E6EDF3"/>
                </a:solidFill>
                <a:latin typeface="Segoe UI"/>
              </a:rPr>
              <a:t>Infrastructure — The Path to a Working Sweep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8B949E"/>
                </a:solidFill>
                <a:latin typeface="Segoe UI"/>
              </a:rPr>
              <a:t>Three platforms, two dead-ends, one win on a tight GPU budget</a:t>
            </a:r>
          </a:p>
        </p:txBody>
      </p:sp>
      <p:pic>
        <p:nvPicPr>
          <p:cNvPr id="4" name="Picture 3" descr="12_engineering_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79" y="1371600"/>
            <a:ext cx="9738360" cy="4617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60533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7EE787"/>
                </a:solidFill>
                <a:latin typeface="Segoe UI"/>
              </a:rPr>
              <a:t>Live monitoring was essential — it exposed the silent P100 hang that looked like normal training.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GRACE @ IberLEF 2026  ·  Track 1: Evidence Component Detection (ES)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E6EDF3"/>
                </a:solidFill>
                <a:latin typeface="Segoe UI"/>
              </a:rPr>
              <a:t>Infrastructure — One Parallel Sweep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8B949E"/>
                </a:solidFill>
                <a:latin typeface="Segoe UI"/>
              </a:rPr>
              <a:t>The full 9×3 grid trained in a single Modal launch</a:t>
            </a:r>
          </a:p>
        </p:txBody>
      </p:sp>
      <p:pic>
        <p:nvPicPr>
          <p:cNvPr id="4" name="Picture 3" descr="07_run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405" y="1371600"/>
            <a:ext cx="8916708" cy="4617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GRACE @ IberLEF 2026  ·  Track 1: Evidence Component Detection (ES)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E6EDF3"/>
                </a:solidFill>
                <a:latin typeface="Segoe UI"/>
              </a:rPr>
              <a:t>Deep-Dive — The bf16 Fix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8B949E"/>
                </a:solidFill>
                <a:latin typeface="Segoe UI"/>
              </a:rPr>
              <a:t>How a precision setting turned the worst model into the best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11064240" cy="1060704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91440" cy="1060704"/>
          </a:xfrm>
          <a:prstGeom prst="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9344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0883E"/>
                </a:solidFill>
                <a:latin typeface="Segoe UI"/>
              </a:rPr>
              <a:t>Symptom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E6EDF3"/>
                </a:solidFill>
                <a:latin typeface="Segoe UI"/>
              </a:rPr>
              <a:t>Under fp32, mDeBERTa-v3 produced grad_norm = NaN within the first epoch and collapsed to 0.0 macro-F1 — effectively unusable.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79191"/>
            <a:ext cx="11064240" cy="1060704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679191"/>
            <a:ext cx="91440" cy="1060704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79775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58A6FF"/>
                </a:solidFill>
                <a:latin typeface="Segoe UI"/>
              </a:rPr>
              <a:t>Diagnosis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E6EDF3"/>
                </a:solidFill>
                <a:latin typeface="Segoe UI"/>
              </a:rPr>
              <a:t>mDeBERTa-v3's disentangled attention is numerically sensitive; fp32 mixed with the training dynamics overflowed. A common Kaggle workaround was pinning an older transformers version.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9624"/>
            <a:ext cx="11064240" cy="1060704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849624"/>
            <a:ext cx="91440" cy="1060704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5020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7EE787"/>
                </a:solidFill>
                <a:latin typeface="Segoe UI"/>
              </a:rPr>
              <a:t>Fix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E6EDF3"/>
                </a:solidFill>
                <a:latin typeface="Segoe UI"/>
              </a:rPr>
              <a:t>Train in bf16 on Ampere (A10G). bf16's wider dynamic range stabilises the gradients without loss scaling — no version pinning needed.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20056"/>
            <a:ext cx="11064240" cy="1060704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020056"/>
            <a:ext cx="91440" cy="1060704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E3B341"/>
                </a:solidFill>
                <a:latin typeface="Segoe UI"/>
              </a:rPr>
              <a:t>Result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E6EDF3"/>
                </a:solidFill>
                <a:latin typeface="Segoe UI"/>
              </a:rPr>
              <a:t>mDeBERTa-v3 became the #1 single backbone at 0.705 ± 0.028 dev macro-F1. The right precision mattered more than the architecture.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GRACE @ IberLEF 2026  ·  Track 1: Evidence Component Detection (ES)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E6EDF3"/>
                </a:solidFill>
                <a:latin typeface="Segoe UI"/>
              </a:rPr>
              <a:t>Results — Model Leaderboard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8B949E"/>
                </a:solidFill>
                <a:latin typeface="Segoe UI"/>
              </a:rPr>
              <a:t>Dev strict macro-F1, mean ± std over 3 seeds</a:t>
            </a:r>
          </a:p>
        </p:txBody>
      </p:sp>
      <p:pic>
        <p:nvPicPr>
          <p:cNvPr id="4" name="Picture 3" descr="01_leader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100" y="1371600"/>
            <a:ext cx="8237319" cy="4617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60533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7EE787"/>
                </a:solidFill>
                <a:latin typeface="Segoe UI"/>
              </a:rPr>
              <a:t>Clinical pretraining helps, but multilingual mDeBERTa-v3 wins; the ensemble line (0.743) clears every single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GRACE @ IberLEF 2026  ·  Track 1: Evidence Component Detection (ES)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E6EDF3"/>
                </a:solidFill>
                <a:latin typeface="Segoe UI"/>
              </a:rPr>
              <a:t>Results — Per-Class Breakdown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8B949E"/>
                </a:solidFill>
                <a:latin typeface="Segoe UI"/>
              </a:rPr>
              <a:t>Premise is easy; MajorClaim is the universal weak spot</a:t>
            </a:r>
          </a:p>
        </p:txBody>
      </p:sp>
      <p:pic>
        <p:nvPicPr>
          <p:cNvPr id="4" name="Picture 3" descr="02_per_class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390" y="1371600"/>
            <a:ext cx="8336738" cy="4617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60533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7EE787"/>
                </a:solidFill>
                <a:latin typeface="Segoe UI"/>
              </a:rPr>
              <a:t>0.82–0.90 on Premise vs 0.24–0.43 on MajorClaim — a data-scarcity ceiling, not a model defect.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GRACE @ IberLEF 2026  ·  Track 1: Evidence Component Detection (ES)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E6EDF3"/>
                </a:solidFill>
                <a:latin typeface="Segoe UI"/>
              </a:rPr>
              <a:t>Results — Seed Stability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8B949E"/>
                </a:solidFill>
                <a:latin typeface="Segoe UI"/>
              </a:rPr>
              <a:t>Why we report mean ± std, not a single lucky run</a:t>
            </a:r>
          </a:p>
        </p:txBody>
      </p:sp>
      <p:pic>
        <p:nvPicPr>
          <p:cNvPr id="4" name="Picture 3" descr="03_seed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358" y="1371600"/>
            <a:ext cx="8500802" cy="4617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60533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7EE787"/>
                </a:solidFill>
                <a:latin typeface="Segoe UI"/>
              </a:rPr>
              <a:t>Seed spread reaches ~0.07 macro-F1 — single-seed leaderboards are unreliable on data this small.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GRACE @ IberLEF 2026  ·  Track 1: Evidence Component Detection (ES)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E6EDF3"/>
                </a:solidFill>
                <a:latin typeface="Segoe UI"/>
              </a:rPr>
              <a:t>Results — Training Dynamics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8B949E"/>
                </a:solidFill>
                <a:latin typeface="Segoe UI"/>
              </a:rPr>
              <a:t>Fast convergence; best epoch kept via load-best-at-end</a:t>
            </a:r>
          </a:p>
        </p:txBody>
      </p:sp>
      <p:pic>
        <p:nvPicPr>
          <p:cNvPr id="4" name="Picture 3" descr="05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358" y="1371600"/>
            <a:ext cx="8500802" cy="4617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60533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7EE787"/>
                </a:solidFill>
                <a:latin typeface="Segoe UI"/>
              </a:rPr>
              <a:t>The five strongest models peak within 4–7 epochs (seed 42); early stopping (patience 4) prevents overfitting on 350 docs.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GRACE @ IberLEF 2026  ·  Track 1: Evidence Component Detection (ES)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E6EDF3"/>
                </a:solidFill>
                <a:latin typeface="Segoe UI"/>
              </a:rPr>
              <a:t>Error Analysis — Where Models Struggle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8B949E"/>
                </a:solidFill>
                <a:latin typeface="Segoe UI"/>
              </a:rPr>
              <a:t>Three recurring failure modes, all concentrated in the harder classes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81328"/>
            <a:ext cx="11064240" cy="152704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91440" cy="1527048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1056132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E3B341"/>
                </a:solidFill>
                <a:latin typeface="Segoe UI"/>
              </a:rPr>
              <a:t>MajorClaim ↔ Claim confusion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Segoe UI"/>
              </a:rPr>
              <a:t>The two are linguistically similar (both interpretive); with only 9 dev / 64 train MajorClaim spans, models under-recall it and frequently label it Claim instead.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54680"/>
            <a:ext cx="11064240" cy="152704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154680"/>
            <a:ext cx="91440" cy="1527048"/>
          </a:xfrm>
          <a:prstGeom prst="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64408"/>
            <a:ext cx="1056132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F0883E"/>
                </a:solidFill>
                <a:latin typeface="Segoe UI"/>
              </a:rPr>
              <a:t>Strict boundaries penalise near-misses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Segoe UI"/>
              </a:rPr>
              <a:t>Sentence-level spans sometimes differ from gold clause-level annotations by a few tokens — correct in spirit, but counted wrong under exact-offset strict matching.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828032"/>
            <a:ext cx="11064240" cy="152704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828032"/>
            <a:ext cx="91440" cy="152704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937760"/>
            <a:ext cx="1056132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58A6FF"/>
                </a:solidFill>
                <a:latin typeface="Segoe UI"/>
              </a:rPr>
              <a:t>Premise is near-saturated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Segoe UI"/>
              </a:rPr>
              <a:t>At 0.82–0.90 F1 across all models, Premise offers little headroom — gains must come from the rare classes, where data is scarcest.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GRACE @ IberLEF 2026  ·  Track 1: Evidence Component Detection (ES)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E6EDF3"/>
                </a:solidFill>
                <a:latin typeface="Segoe UI"/>
              </a:rPr>
              <a:t>Ensemble — Methodology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8B949E"/>
                </a:solidFill>
                <a:latin typeface="Segoe UI"/>
              </a:rPr>
              <a:t>Probability averaging over all 27 runs</a:t>
            </a:r>
          </a:p>
        </p:txBody>
      </p:sp>
      <p:pic>
        <p:nvPicPr>
          <p:cNvPr id="4" name="Picture 3" descr="13_ensemble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163" y="1371600"/>
            <a:ext cx="9171193" cy="4617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60533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7EE787"/>
                </a:solidFill>
                <a:latin typeface="Segoe UI"/>
              </a:rPr>
              <a:t>Average softmax outputs (mean over seeds, then over models), then argmax with the 0.50 MajorClaim override.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GRACE @ IberLEF 2026  ·  Track 1: Evidence Component Detection (ES)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E6EDF3"/>
                </a:solidFill>
                <a:latin typeface="Segoe UI"/>
              </a:rPr>
              <a:t>Ensemble — Honest Model Selection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8B949E"/>
                </a:solidFill>
                <a:latin typeface="Segoe UI"/>
              </a:rPr>
              <a:t>All-9 averaging beats every single model AND dev-selected top-3</a:t>
            </a:r>
          </a:p>
        </p:txBody>
      </p:sp>
      <p:pic>
        <p:nvPicPr>
          <p:cNvPr id="4" name="Picture 3" descr="04_ensemble_g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820" y="1371600"/>
            <a:ext cx="8119879" cy="4617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60533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7EE787"/>
                </a:solidFill>
                <a:latin typeface="Segoe UI"/>
              </a:rPr>
              <a:t>All-9 (0.7434) &gt; top-3 (0.7416): the zero-peek choice is also the best → submit all-9, no selection bias.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GRACE @ IberLEF 2026  ·  Track 1: Evidence Component Detection (ES)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E6EDF3"/>
                </a:solidFill>
                <a:latin typeface="Segoe UI"/>
              </a:rPr>
              <a:t>Blind-Test Submission — Generation &amp; Validation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8B949E"/>
                </a:solidFill>
                <a:latin typeface="Segoe UI"/>
              </a:rPr>
              <a:t>Applying the all-9 ensemble to 2,474 unseen abstracts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2670048" cy="11430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2670048" cy="82296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24871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E6EDF3"/>
                </a:solidFill>
                <a:latin typeface="Segoe UI"/>
              </a:rPr>
              <a:t>2,474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8B949E"/>
                </a:solidFill>
                <a:latin typeface="Segoe UI"/>
              </a:rPr>
              <a:t>abstracts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8416" y="1508760"/>
            <a:ext cx="2670048" cy="11430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28416" y="1508760"/>
            <a:ext cx="2670048" cy="82296"/>
          </a:xfrm>
          <a:prstGeom prst="rect">
            <a:avLst/>
          </a:prstGeom>
          <a:solidFill>
            <a:srgbClr val="D2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691640"/>
            <a:ext cx="24871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E6EDF3"/>
                </a:solidFill>
                <a:latin typeface="Segoe UI"/>
              </a:rPr>
              <a:t>26,640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8B949E"/>
                </a:solidFill>
                <a:latin typeface="Segoe UI"/>
              </a:rPr>
              <a:t>sentences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08192" y="1508760"/>
            <a:ext cx="2670048" cy="11430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08192" y="1508760"/>
            <a:ext cx="2670048" cy="82296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1" y="1691640"/>
            <a:ext cx="24871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E6EDF3"/>
                </a:solidFill>
                <a:latin typeface="Segoe UI"/>
              </a:rPr>
              <a:t>11,752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8B949E"/>
                </a:solidFill>
                <a:latin typeface="Segoe UI"/>
              </a:rPr>
              <a:t>components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87967" y="1508760"/>
            <a:ext cx="2670048" cy="11430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87967" y="1508760"/>
            <a:ext cx="2670048" cy="82296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79407" y="1691640"/>
            <a:ext cx="24871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E6EDF3"/>
                </a:solidFill>
                <a:latin typeface="Segoe UI"/>
              </a:rPr>
              <a:t>0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8B949E"/>
                </a:solidFill>
                <a:latin typeface="Segoe UI"/>
              </a:rPr>
              <a:t>offset mismatches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26080"/>
            <a:ext cx="11064240" cy="93268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926080"/>
            <a:ext cx="91440" cy="932688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0175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7EE787"/>
                </a:solidFill>
                <a:latin typeface="Segoe UI"/>
              </a:rPr>
              <a:t>Stage-2 logits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Segoe UI"/>
              </a:rPr>
              <a:t>Predictions come from models refit on train+dev — the full-data fit, not the dev-selection fit.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68496"/>
            <a:ext cx="11064240" cy="93268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968496"/>
            <a:ext cx="91440" cy="93268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059935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58A6FF"/>
                </a:solidFill>
                <a:latin typeface="Segoe UI"/>
              </a:rPr>
              <a:t>Offset validation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Segoe UI"/>
              </a:rPr>
              <a:t>Every predicted span satisfies raw_text[start:end] == text after trimming spaCy's trailing whitespace (135 → 0).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10912"/>
            <a:ext cx="11064240" cy="93268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010912"/>
            <a:ext cx="91440" cy="932688"/>
          </a:xfrm>
          <a:prstGeom prst="rect">
            <a:avLst/>
          </a:prstGeom>
          <a:solidFill>
            <a:srgbClr val="D2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102351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D2A8FF"/>
                </a:solidFill>
                <a:latin typeface="Segoe UI"/>
              </a:rPr>
              <a:t>Sanity check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E6EDF3"/>
                </a:solidFill>
                <a:latin typeface="Segoe UI"/>
              </a:rPr>
              <a:t>Premise/Claim proportions match the training prior; MajorClaim is predicted conservatively (1.4% vs 2.8%) — no degenerate single-class collapse.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GRACE @ IberLEF 2026  ·  Track 1: Evidence Component Detection (ES)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E6EDF3"/>
                </a:solidFill>
                <a:latin typeface="Segoe UI"/>
              </a:rPr>
              <a:t>Blind-Test Submission — Predicted Distribution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8B949E"/>
                </a:solidFill>
                <a:latin typeface="Segoe UI"/>
              </a:rPr>
              <a:t>All-9 ensemble output across the unseen abstracts</a:t>
            </a:r>
          </a:p>
        </p:txBody>
      </p:sp>
      <p:pic>
        <p:nvPicPr>
          <p:cNvPr id="4" name="Picture 3" descr="08_blind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820" y="1371600"/>
            <a:ext cx="8119879" cy="4617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60533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7EE787"/>
                </a:solidFill>
                <a:latin typeface="Segoe UI"/>
              </a:rPr>
              <a:t>Premise/Claim mirror the training prior; MajorClaim is predicted more conservatively — the ensemble generalises without collapsing to one class.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GRACE @ IberLEF 2026  ·  Track 1: Evidence Component Detection (ES)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E6EDF3"/>
                </a:solidFill>
                <a:latin typeface="Segoe UI"/>
              </a:rPr>
              <a:t>Beyond the Core Benchmark — What We Explored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8B949E"/>
                </a:solidFill>
                <a:latin typeface="Segoe UI"/>
              </a:rPr>
              <a:t>The sentence-level recipe was selected after a broader 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81328"/>
            <a:ext cx="11064240" cy="110871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91440" cy="110871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10561320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58A6FF"/>
                </a:solidFill>
                <a:latin typeface="Segoe UI"/>
              </a:rPr>
              <a:t>Architecture variants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E6EDF3"/>
                </a:solidFill>
                <a:latin typeface="Segoe UI"/>
              </a:rPr>
              <a:t>Focal loss, a CRF decoding layer, and a BiLSTM head were trialled on the encoder baseline before settling on the simpler, more reliable sentence-level classifier.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36341"/>
            <a:ext cx="11064240" cy="110871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36341"/>
            <a:ext cx="91440" cy="1108710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46070"/>
            <a:ext cx="10561320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7EE787"/>
                </a:solidFill>
                <a:latin typeface="Segoe UI"/>
              </a:rPr>
              <a:t>Relation classification (Track 2)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E6EDF3"/>
                </a:solidFill>
                <a:latin typeface="Segoe UI"/>
              </a:rPr>
              <a:t>An NLI-style relation classifier for Support / Attack / Partial-Attack between components — the natural next step on top of detected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91355"/>
            <a:ext cx="11064240" cy="110871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991355"/>
            <a:ext cx="91440" cy="1108710"/>
          </a:xfrm>
          <a:prstGeom prst="rect">
            <a:avLst/>
          </a:prstGeom>
          <a:solidFill>
            <a:srgbClr val="D2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101083"/>
            <a:ext cx="10561320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D2A8FF"/>
                </a:solidFill>
                <a:latin typeface="Segoe UI"/>
              </a:rPr>
              <a:t>Data strategies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E6EDF3"/>
                </a:solidFill>
                <a:latin typeface="Segoe UI"/>
              </a:rPr>
              <a:t>Rare-class oversampling, external clinical corpora, and LLM-based synthetic augmentation to attack the MajorClaim scarcity directly.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246369"/>
            <a:ext cx="11064240" cy="110871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246369"/>
            <a:ext cx="91440" cy="110871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356097"/>
            <a:ext cx="10561320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E3B341"/>
                </a:solidFill>
                <a:latin typeface="Segoe UI"/>
              </a:rPr>
              <a:t>Why the sentence-level recipe won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E6EDF3"/>
                </a:solidFill>
                <a:latin typeface="Segoe UI"/>
              </a:rPr>
              <a:t>It was the most robust and reproducible across backbones and seeds — the right foundation for a fair 27-run benchmark and a trustworthy ensemble.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GRACE @ IberLEF 2026  ·  Track 1: Evidence Component Detection (ES)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E6EDF3"/>
                </a:solidFill>
                <a:latin typeface="Segoe UI"/>
              </a:rPr>
              <a:t>Engineering Lessons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8B949E"/>
                </a:solidFill>
                <a:latin typeface="Segoe UI"/>
              </a:rPr>
              <a:t>Four takeaways that generalise beyond this task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81328"/>
            <a:ext cx="11064240" cy="110871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91440" cy="1108710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10561320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7EE787"/>
                </a:solidFill>
                <a:latin typeface="Segoe UI"/>
              </a:rPr>
              <a:t>Precision can unlock a model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E6EDF3"/>
                </a:solidFill>
                <a:latin typeface="Segoe UI"/>
              </a:rPr>
              <a:t>Ampere bf16 turned mDeBERTa-v3 from a NaN collapse into the #1 backbone — the numerical setup mattered more than the architecture choice.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36341"/>
            <a:ext cx="11064240" cy="110871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36341"/>
            <a:ext cx="91440" cy="110871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46070"/>
            <a:ext cx="10561320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E3B341"/>
                </a:solidFill>
                <a:latin typeface="Segoe UI"/>
              </a:rPr>
              <a:t>Ensembling is the cheap, honest win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E6EDF3"/>
                </a:solidFill>
                <a:latin typeface="Segoe UI"/>
              </a:rPr>
              <a:t>Averaging 27 distributions adds +3.9 pts over the best single model with zero extra training, and — chosen as all-9 — carries no selection bias.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91355"/>
            <a:ext cx="11064240" cy="110871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991355"/>
            <a:ext cx="91440" cy="110871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101083"/>
            <a:ext cx="10561320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58A6FF"/>
                </a:solidFill>
                <a:latin typeface="Segoe UI"/>
              </a:rPr>
              <a:t>Report distributions, not lucky seeds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E6EDF3"/>
                </a:solidFill>
                <a:latin typeface="Segoe UI"/>
              </a:rPr>
              <a:t>Up to ~0.07 seed spread on 350 docs makes single-seed rankings unreliable; mean ± std over 3 seeds is the defensible comparison.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246369"/>
            <a:ext cx="11064240" cy="110871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246369"/>
            <a:ext cx="91440" cy="1108710"/>
          </a:xfrm>
          <a:prstGeom prst="rect">
            <a:avLst/>
          </a:prstGeom>
          <a:solidFill>
            <a:srgbClr val="D2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356097"/>
            <a:ext cx="10561320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D2A8FF"/>
                </a:solidFill>
                <a:latin typeface="Segoe UI"/>
              </a:rPr>
              <a:t>Monitor training live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E6EDF3"/>
                </a:solidFill>
                <a:latin typeface="Segoe UI"/>
              </a:rPr>
              <a:t>The silent P100 hang looked like normal training — only live log monitoring revealed it. Trust, but verify your GPU is actually working.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GRACE @ IberLEF 2026  ·  Track 1: Evidence Component Detection (ES)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E6EDF3"/>
                </a:solidFill>
                <a:latin typeface="Segoe UI"/>
              </a:rPr>
              <a:t>Limitations &amp; Future Work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8B949E"/>
                </a:solidFill>
                <a:latin typeface="Segoe UI"/>
              </a:rPr>
              <a:t>Honest scope and the road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7EE787"/>
                </a:solidFill>
                <a:latin typeface="Segoe UI"/>
              </a:rPr>
              <a:t>Limitations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38528"/>
            <a:ext cx="5440680" cy="97840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38528"/>
            <a:ext cx="73152" cy="97840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020824"/>
            <a:ext cx="5074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8A6FF"/>
                </a:solidFill>
                <a:latin typeface="Segoe UI"/>
              </a:rPr>
              <a:t>Sentence-level granularity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</a:rPr>
              <a:t>Cannot recover sub-sentence clause spans that strict matching rewards.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35808"/>
            <a:ext cx="5440680" cy="97840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035808"/>
            <a:ext cx="73152" cy="97840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3118104"/>
            <a:ext cx="5074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8A6FF"/>
                </a:solidFill>
                <a:latin typeface="Segoe UI"/>
              </a:rPr>
              <a:t>Tiny dev set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</a:rPr>
              <a:t>50 docs / 9 MajorClaim spans → wide confidence intervals on the rare class.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33088"/>
            <a:ext cx="5440680" cy="97840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133088"/>
            <a:ext cx="73152" cy="97840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4215384"/>
            <a:ext cx="5074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8A6FF"/>
                </a:solidFill>
                <a:latin typeface="Segoe UI"/>
              </a:rPr>
              <a:t>Dev-only estimate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</a:rPr>
              <a:t>Blind labels are unreleased; 0.743 is our dev estimate, not a leaderboard score.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4173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7EE787"/>
                </a:solidFill>
                <a:latin typeface="Segoe UI"/>
              </a:rPr>
              <a:t>Future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938528"/>
            <a:ext cx="5440680" cy="97840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938528"/>
            <a:ext cx="73152" cy="97840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2020824"/>
            <a:ext cx="5074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8A6FF"/>
                </a:solidFill>
                <a:latin typeface="Segoe UI"/>
              </a:rPr>
              <a:t>Clause-level segmentation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</a:rPr>
              <a:t>Predict intrasentence spans to align with gold boundaries.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035808"/>
            <a:ext cx="5440680" cy="97840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035808"/>
            <a:ext cx="73152" cy="97840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3118104"/>
            <a:ext cx="5074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8A6FF"/>
                </a:solidFill>
                <a:latin typeface="Segoe UI"/>
              </a:rPr>
              <a:t>MajorClaim augmentation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</a:rPr>
              <a:t>Targeted synthetic / contrastive data for the weakest class.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133088"/>
            <a:ext cx="5440680" cy="978408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133088"/>
            <a:ext cx="73152" cy="97840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9944" y="4215384"/>
            <a:ext cx="5074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8A6FF"/>
                </a:solidFill>
                <a:latin typeface="Segoe UI"/>
              </a:rPr>
              <a:t>Track 2 relations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</a:rPr>
              <a:t>Support / Attack / Partial-Attack detection on the detected components.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GRACE @ IberLEF 2026  ·  Track 1: Evidence Component Detection (ES)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E6EDF3"/>
                </a:solidFill>
                <a:latin typeface="Segoe UI"/>
              </a:rPr>
              <a:t>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593592" cy="14173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93592" cy="9144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400" b="1" i="0">
                <a:solidFill>
                  <a:srgbClr val="E3B341"/>
                </a:solidFill>
                <a:latin typeface="Segoe UI"/>
              </a:rPr>
              <a:t>0.743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8B949E"/>
                </a:solidFill>
                <a:latin typeface="Segoe UI"/>
              </a:rPr>
              <a:t>dev strict macro-F1 from the bias-free all-9 ensemble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0248" y="1463040"/>
            <a:ext cx="3593592" cy="14173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70248" y="1463040"/>
            <a:ext cx="3593592" cy="91440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1691640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400" b="1" i="0">
                <a:solidFill>
                  <a:srgbClr val="7EE787"/>
                </a:solidFill>
                <a:latin typeface="Segoe UI"/>
              </a:rPr>
              <a:t>+3.9 pts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8B949E"/>
                </a:solidFill>
                <a:latin typeface="Segoe UI"/>
              </a:rPr>
              <a:t>ensemble gain over the best single model — no extra training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1463040"/>
            <a:ext cx="3593592" cy="14173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1856" y="1463040"/>
            <a:ext cx="3593592" cy="9144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691640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400" b="1" i="0">
                <a:solidFill>
                  <a:srgbClr val="58A6FF"/>
                </a:solidFill>
                <a:latin typeface="Segoe UI"/>
              </a:rPr>
              <a:t>27 / 27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8B949E"/>
                </a:solidFill>
                <a:latin typeface="Segoe UI"/>
              </a:rPr>
              <a:t>runs converged in one parallel Modal launch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E6EDF3"/>
                </a:solidFill>
                <a:latin typeface="Segoe UI"/>
              </a:rPr>
              <a:t>In one sentence: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E6EDF3"/>
                </a:solidFill>
                <a:latin typeface="Segoe UI"/>
              </a:rPr>
              <a:t>A disciplined 27-run benchmark plus a zero-peek ensemble delivers a strong, reproducible Spanish clinical argument-mining system — and the remaining headroom is a data problem (MajorClaim), not a modelling one.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7EE787"/>
                </a:solidFill>
                <a:latin typeface="Segoe UI"/>
              </a:rPr>
              <a:t>Methodology that travels: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E6EDF3"/>
                </a:solidFill>
                <a:latin typeface="Segoe UI"/>
              </a:rPr>
              <a:t>• Get the numerics right before blaming the architecture.    • Prefer bias-free ensembling to dev-tuned selection.    • Rank on mean ± std, never a lucky seed.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GRACE @ IberLEF 2026  ·  Track 1: Evidence Component Detection (ES)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 i="0">
                <a:solidFill>
                  <a:srgbClr val="E6EDF3"/>
                </a:solidFill>
                <a:latin typeface="Segoe UI"/>
              </a:rPr>
              <a:t>Thank you</a:t>
            </a:r>
          </a:p>
          <a:p>
            <a:pPr algn="l">
              <a:spcAft>
                <a:spcPts val="1800"/>
              </a:spcAft>
            </a:pPr>
            <a:r>
              <a:rPr sz="2000" b="0" i="0">
                <a:solidFill>
                  <a:srgbClr val="7EE787"/>
                </a:solidFill>
                <a:latin typeface="Segoe UI"/>
              </a:rPr>
              <a:t>Questions &amp; discussion welcome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8B949E"/>
                </a:solidFill>
                <a:latin typeface="Segoe UI"/>
              </a:rPr>
              <a:t>GRACE @ IberLEF 2026 · Track 1 — Evidence Component Detection (ES)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8B949E"/>
                </a:solidFill>
                <a:latin typeface="Segoe UI"/>
              </a:rPr>
              <a:t>Reproducible pipeline: modal_sweep.py → modal_ensemble.py → report/ (figures · DOCX · PPTX)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GRACE @ IberLEF 2026  ·  Track 1: Evidence Component Detection (ES)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8B949E"/>
                </a:solidFill>
                <a:latin typeface="Segoe UI"/>
              </a:rP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